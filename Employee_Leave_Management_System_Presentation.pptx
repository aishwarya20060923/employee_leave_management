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10B981"/>
                </a:solidFill>
                <a:latin typeface="Calibri"/>
              </a:defRPr>
            </a:pPr>
            <a:r>
              <a:t>CRT COLLEGE PROJECT SUBMISSION • 2026</a:t>
            </a:r>
          </a:p>
          <a:p>
            <a:pPr>
              <a:spcAft>
                <a:spcPts val="120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Employee Leave Management System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Full-Stack Web Portal with Role-Based Access Control, Smart Working-Day Calculation, &amp; Attendance Integration</a:t>
            </a:r>
          </a:p>
          <a:p>
            <a:pPr>
              <a:defRPr sz="1200" b="1">
                <a:solidFill>
                  <a:srgbClr val="60A5FA"/>
                </a:solidFill>
              </a:defRPr>
            </a:pPr>
            <a:r>
              <a:t>Technologies: Python | Flask | SQLite | SQLAlchemy | Vanilla JS | HTML5 | CSS3 | Chart.js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EMPLOYEE LEAVE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Arial"/>
              </a:defRPr>
            </a:pPr>
            <a:r>
              <a:t>Project Overview &amp; 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b="1" sz="1600">
                <a:solidFill>
                  <a:srgbClr val="B91C1C"/>
                </a:solidFill>
              </a:defRPr>
            </a:pPr>
            <a:r>
              <a:t>Traditional Leave Management Challenges</a:t>
            </a:r>
          </a:p>
          <a:p>
            <a:pPr>
              <a:spcAft>
                <a:spcPts val="800"/>
              </a:spcAft>
              <a:defRPr sz="1200">
                <a:solidFill>
                  <a:srgbClr val="7F1D1D"/>
                </a:solidFill>
              </a:defRPr>
            </a:pPr>
            <a:r>
              <a:t>•  Manual paperwork &amp; spreadsheet calculations prone to error</a:t>
            </a:r>
          </a:p>
          <a:p>
            <a:pPr>
              <a:spcAft>
                <a:spcPts val="800"/>
              </a:spcAft>
              <a:defRPr sz="1200">
                <a:solidFill>
                  <a:srgbClr val="7F1D1D"/>
                </a:solidFill>
              </a:defRPr>
            </a:pPr>
            <a:r>
              <a:t>•  Weekends &amp; holidays manually counted or miscalculated</a:t>
            </a:r>
          </a:p>
          <a:p>
            <a:pPr>
              <a:spcAft>
                <a:spcPts val="800"/>
              </a:spcAft>
              <a:defRPr sz="1200">
                <a:solidFill>
                  <a:srgbClr val="7F1D1D"/>
                </a:solidFill>
              </a:defRPr>
            </a:pPr>
            <a:r>
              <a:t>•  No real-time balance tracking causing negative leave quotas</a:t>
            </a:r>
          </a:p>
          <a:p>
            <a:pPr>
              <a:spcAft>
                <a:spcPts val="800"/>
              </a:spcAft>
              <a:defRPr sz="1200">
                <a:solidFill>
                  <a:srgbClr val="7F1D1D"/>
                </a:solidFill>
              </a:defRPr>
            </a:pPr>
            <a:r>
              <a:t>•  Disjointed approval chains with no audit visibility</a:t>
            </a:r>
          </a:p>
          <a:p>
            <a:pPr>
              <a:spcAft>
                <a:spcPts val="800"/>
              </a:spcAft>
              <a:defRPr sz="1200">
                <a:solidFill>
                  <a:srgbClr val="7F1D1D"/>
                </a:solidFill>
              </a:defRPr>
            </a:pPr>
            <a:r>
              <a:t>•  Attendance records disconnected from approved leave days</a:t>
            </a:r>
          </a:p>
          <a:p>
            <a:pPr>
              <a:spcAft>
                <a:spcPts val="800"/>
              </a:spcAft>
              <a:defRPr sz="1200">
                <a:solidFill>
                  <a:srgbClr val="7F1D1D"/>
                </a:solidFill>
              </a:defRPr>
            </a:pPr>
            <a:r>
              <a:t>•  Lack of central reporting and visual analytics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212080" cy="4572000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b="1" sz="1600">
                <a:solidFill>
                  <a:srgbClr val="15803D"/>
                </a:solidFill>
              </a:defRPr>
            </a:pPr>
            <a:r>
              <a:t>The ELMS Solution</a:t>
            </a:r>
          </a:p>
          <a:p>
            <a:pPr>
              <a:spcAft>
                <a:spcPts val="800"/>
              </a:spcAft>
              <a:defRPr sz="1200">
                <a:solidFill>
                  <a:srgbClr val="14532D"/>
                </a:solidFill>
              </a:defRPr>
            </a:pPr>
            <a:r>
              <a:t>✔  100% automated web workflow from application to approval</a:t>
            </a:r>
          </a:p>
          <a:p>
            <a:pPr>
              <a:spcAft>
                <a:spcPts val="800"/>
              </a:spcAft>
              <a:defRPr sz="1200">
                <a:solidFill>
                  <a:srgbClr val="14532D"/>
                </a:solidFill>
              </a:defRPr>
            </a:pPr>
            <a:r>
              <a:t>✔  Smart algorithm automatically excluding weekends &amp; gazetted holidays</a:t>
            </a:r>
          </a:p>
          <a:p>
            <a:pPr>
              <a:spcAft>
                <a:spcPts val="800"/>
              </a:spcAft>
              <a:defRPr sz="1200">
                <a:solidFill>
                  <a:srgbClr val="14532D"/>
                </a:solidFill>
              </a:defRPr>
            </a:pPr>
            <a:r>
              <a:t>✔  Strict quota validation &amp; conflict detection preventing overlaps</a:t>
            </a:r>
          </a:p>
          <a:p>
            <a:pPr>
              <a:spcAft>
                <a:spcPts val="800"/>
              </a:spcAft>
              <a:defRPr sz="1200">
                <a:solidFill>
                  <a:srgbClr val="14532D"/>
                </a:solidFill>
              </a:defRPr>
            </a:pPr>
            <a:r>
              <a:t>✔  Transparent multi-role access (Admin, Manager/HR, Employee)</a:t>
            </a:r>
          </a:p>
          <a:p>
            <a:pPr>
              <a:spcAft>
                <a:spcPts val="800"/>
              </a:spcAft>
              <a:defRPr sz="1200">
                <a:solidFill>
                  <a:srgbClr val="14532D"/>
                </a:solidFill>
              </a:defRPr>
            </a:pPr>
            <a:r>
              <a:t>✔  Automated attendance synchronization on leave approval</a:t>
            </a:r>
          </a:p>
          <a:p>
            <a:pPr>
              <a:spcAft>
                <a:spcPts val="800"/>
              </a:spcAft>
              <a:defRPr sz="1200">
                <a:solidFill>
                  <a:srgbClr val="14532D"/>
                </a:solidFill>
              </a:defRPr>
            </a:pPr>
            <a:r>
              <a:t>✔  Real-time Chart.js interactive charts &amp; RFC-compliant CSV export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EMPLOYEE LEAVE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Arial"/>
              </a:defRPr>
            </a:pPr>
            <a:r>
              <a:t>Architecture &amp; 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83280" cy="45720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Frontend Layer</a:t>
            </a:r>
          </a:p>
          <a:p>
            <a:pPr>
              <a:spcAft>
                <a:spcPts val="1200"/>
              </a:spcAft>
              <a:defRPr sz="1000">
                <a:solidFill>
                  <a:srgbClr val="64748B"/>
                </a:solidFill>
              </a:defRPr>
            </a:pPr>
            <a:r>
              <a:t>HTML5 • Custom CSS3 • Vanilla JavaScript • Chart.js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Semantic corporate interface without heavy JS frameworks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Responsive drawer navigation &amp; mobile optimization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Live AJAX day calculation via Fetch API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Interactive monthly calendar component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4 interactive Chart.js visualizations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737360"/>
            <a:ext cx="3383280" cy="457200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7C3AED"/>
                </a:solidFill>
              </a:defRPr>
            </a:pPr>
            <a:r>
              <a:t>Backend Layer</a:t>
            </a:r>
          </a:p>
          <a:p>
            <a:pPr>
              <a:spcAft>
                <a:spcPts val="1200"/>
              </a:spcAft>
              <a:defRPr sz="1000">
                <a:solidFill>
                  <a:srgbClr val="64748B"/>
                </a:solidFill>
              </a:defRPr>
            </a:pPr>
            <a:r>
              <a:t>Python 3.11 • Flask 3.1.3 • Werkzeug 3.1.3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Application Factory pattern &amp; modular Blueprints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Custom RBAC decorators (@login_required, @role_required)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Centralized business logic algorithms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PBKDF2/SHA-256 cryptographic password hashing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Dynamic CSV streaming and error handling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737360"/>
            <a:ext cx="3383280" cy="457200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0D9488"/>
                </a:solidFill>
              </a:defRPr>
            </a:pPr>
            <a:r>
              <a:t>Database Layer</a:t>
            </a:r>
          </a:p>
          <a:p>
            <a:pPr>
              <a:spcAft>
                <a:spcPts val="1200"/>
              </a:spcAft>
              <a:defRPr sz="1000">
                <a:solidFill>
                  <a:srgbClr val="64748B"/>
                </a:solidFill>
              </a:defRPr>
            </a:pPr>
            <a:r>
              <a:t>SQLite 3 • Flask-SQLAlchemy 3.1.1 ORM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10 normalized relational models with cascade rules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Foreign keys &amp; composite unique constraints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Self-referential manager-subordinate hierarchy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Transactional integrity with automatic rollback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Comprehensive seed data (12 accounts, 2026 holidays)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EMPLOYEE LEAVE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Arial"/>
              </a:defRPr>
            </a:pPr>
            <a:r>
              <a:t>Role-Based Access Control (RBAC)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83280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3B82F6"/>
                </a:solidFill>
              </a:defRPr>
            </a:pPr>
            <a:r>
              <a:t>Employee (Self-Service)</a:t>
            </a:r>
          </a:p>
          <a:p>
            <a:pPr>
              <a:spcAft>
                <a:spcPts val="1200"/>
              </a:spcAft>
              <a:defRPr sz="950">
                <a:solidFill>
                  <a:srgbClr val="64748B"/>
                </a:solidFill>
              </a:defRPr>
            </a:pPr>
            <a:r>
              <a:t>Rahul Verma / employee@example.com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Personal dashboard with KPI metric cards &amp; balances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Apply for leave with live working-day computation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Option for Half-Day slots (0.5 days) &amp; document uploads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Track leave history and cancel eligible future requests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Personal interactive leave &amp; holiday calendar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Daily clock-in/out attendance with 60-day history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Profile management and password changer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737360"/>
            <a:ext cx="3383280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10B981"/>
                </a:solidFill>
              </a:defRPr>
            </a:pPr>
            <a:r>
              <a:t>Manager / HR</a:t>
            </a:r>
          </a:p>
          <a:p>
            <a:pPr>
              <a:spcAft>
                <a:spcPts val="1200"/>
              </a:spcAft>
              <a:defRPr sz="950">
                <a:solidFill>
                  <a:srgbClr val="64748B"/>
                </a:solidFill>
              </a:defRPr>
            </a:pPr>
            <a:r>
              <a:t>Priya Patel / manager@example.com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Review queue of all pending leave requests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One-click Approve with automatic balance deduction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Reject with mandatory explanation reason capture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4 real-time Chart.js visual analytics &amp; department usage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Organization attendance sheet by department and date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Employee 360-degree profile &amp; balance inspector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Multi-filter reports &amp; CSV spreadsheet export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737360"/>
            <a:ext cx="3383280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F59E0B"/>
                </a:solidFill>
              </a:defRPr>
            </a:pPr>
            <a:r>
              <a:t>Administrator</a:t>
            </a:r>
          </a:p>
          <a:p>
            <a:pPr>
              <a:spcAft>
                <a:spcPts val="1200"/>
              </a:spcAft>
              <a:defRPr sz="950">
                <a:solidFill>
                  <a:srgbClr val="64748B"/>
                </a:solidFill>
              </a:defRPr>
            </a:pPr>
            <a:r>
              <a:t>Rajesh Sharma / admin@example.com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Global system oversight &amp; quick-action shortcuts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Staff management: Add, edit, toggle Active/Inactive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Auto-provisioning of leave balances for new hires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Department CRUD &amp; code configuration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Leave policy manager (Entitlement, paid flag, carry-over)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Gazetted holiday schedule manager (Mandatory vs. Optional)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System security audit trail inspector with action filters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EMPLOYEE LEAVE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Arial"/>
              </a:defRPr>
            </a:pPr>
            <a:r>
              <a:t>Core Business Logic &amp; Automated Calculations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69848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b="1" sz="1300">
                <a:solidFill>
                  <a:srgbClr val="2563EB"/>
                </a:solidFill>
              </a:defRPr>
            </a:pPr>
            <a:r>
              <a:t>1. Smart Working-Day Calculation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Iterates date span. Automatically detects and skips Saturdays (weekday=5) and Sundays (weekday=6), plus any matching mandatory gazetted public holidays in the Holiday table. Half-day requests evaluate to exactly 0.5 days.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80360"/>
            <a:ext cx="1069848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b="1" sz="1300">
                <a:solidFill>
                  <a:srgbClr val="2563EB"/>
                </a:solidFill>
              </a:defRPr>
            </a:pPr>
            <a:r>
              <a:t>2. Balance Limits &amp; Conflict Detection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Validates that remaining balance &gt;= requested working days. Performs range collision detection: checks for any existing Pending or Approved requests overlapping start_date &lt;= end_date AND end_date &gt;= start_date.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1069848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b="1" sz="1300">
                <a:solidFill>
                  <a:srgbClr val="2563EB"/>
                </a:solidFill>
              </a:defRPr>
            </a:pPr>
            <a:r>
              <a:t>3. Approval &amp; Attendance Synchronization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Upon manager approval, balance used_days increases and remaining_days updates. Simultaneously loops through all non-weekend dates and creates or updates Attendance records as 'Leave'.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66360"/>
            <a:ext cx="1069848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b="1" sz="1300">
                <a:solidFill>
                  <a:srgbClr val="2563EB"/>
                </a:solidFill>
              </a:defRPr>
            </a:pPr>
            <a:r>
              <a:t>4. Safe Cancellation &amp; Quota Restoration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Pending requests can be cancelled anytime. Approved requests can be cancelled only if start_date &gt;= today (future leave). Automatically restores deducted days back to available balance.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EMPLOYEE LEAVE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Arial"/>
              </a:defRPr>
            </a:pPr>
            <a:r>
              <a:t>Database Architecture (10 Relational Models)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120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2563EB"/>
                </a:solidFill>
              </a:defRPr>
            </a:pPr>
            <a:r>
              <a:t>USERS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User credentials, role, status, password hash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2120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2563EB"/>
                </a:solidFill>
              </a:defRPr>
            </a:pPr>
            <a:r>
              <a:t>DEPARTMENTS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Organizational units (Engineering, HR, etc.)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52120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2563EB"/>
                </a:solidFill>
              </a:defRPr>
            </a:pPr>
            <a:r>
              <a:t>EMPLOYEES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Staff directory, manager hierarchy, user mapping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651760"/>
            <a:ext cx="52120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2563EB"/>
                </a:solidFill>
              </a:defRPr>
            </a:pPr>
            <a:r>
              <a:t>LEAVE_TYPES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Policies: Casual, Sick, Annual, LOP, WFH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566160"/>
            <a:ext cx="52120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2563EB"/>
                </a:solidFill>
              </a:defRPr>
            </a:pPr>
            <a:r>
              <a:t>LEAVE_BALANCES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Yearly entitled, used, and remaining quota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566160"/>
            <a:ext cx="52120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2563EB"/>
                </a:solidFill>
              </a:defRPr>
            </a:pPr>
            <a:r>
              <a:t>LEAVE_REQUESTS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Applications, dates, reason, status, 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480560"/>
            <a:ext cx="52120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2563EB"/>
                </a:solidFill>
              </a:defRPr>
            </a:pPr>
            <a:r>
              <a:t>HOLIDAYS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2026 gazetted public holidays (mandatory/opt)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480560"/>
            <a:ext cx="52120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2563EB"/>
                </a:solidFill>
              </a:defRPr>
            </a:pPr>
            <a:r>
              <a:t>ATTENDANCES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Daily clock in/out and synchronized leaves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94960"/>
            <a:ext cx="52120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2563EB"/>
                </a:solidFill>
              </a:defRPr>
            </a:pPr>
            <a:r>
              <a:t>NOTIFICATIONS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In-app alerts with unread counter badges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5394960"/>
            <a:ext cx="52120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2563EB"/>
                </a:solidFill>
              </a:defRPr>
            </a:pPr>
            <a:r>
              <a:t>AUDIT_LOGS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Immutable security audit trails &amp; IP logging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EMPLOYEE LEAVE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Arial"/>
              </a:defRPr>
            </a:pPr>
            <a:r>
              <a:t>Testing &amp; Verification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200400" cy="4572000"/>
          </a:xfrm>
          <a:prstGeom prst="roundRect">
            <a:avLst/>
          </a:prstGeom>
          <a:solidFill>
            <a:srgbClr val="F0FDF4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4400">
                <a:solidFill>
                  <a:srgbClr val="16A34A"/>
                </a:solidFill>
              </a:defRPr>
            </a:pPr>
            <a:r>
              <a:t>100%</a:t>
            </a:r>
          </a:p>
          <a:p>
            <a:pPr algn="ctr">
              <a:spcAft>
                <a:spcPts val="1600"/>
              </a:spcAft>
              <a:defRPr b="1" sz="1400">
                <a:solidFill>
                  <a:srgbClr val="15803D"/>
                </a:solidFill>
              </a:defRPr>
            </a:pPr>
            <a:r>
              <a:t>TEST PASS RATE</a:t>
            </a:r>
          </a:p>
          <a:p>
            <a:pPr algn="ctr">
              <a:defRPr sz="1200">
                <a:solidFill>
                  <a:srgbClr val="14532D"/>
                </a:solidFill>
              </a:defRPr>
            </a:pPr>
            <a:r>
              <a:t>• 22 / 22 Tests Passed</a:t>
            </a:r>
            <a:br/>
            <a:r>
              <a:t>• 0 Failures</a:t>
            </a:r>
            <a:br/>
            <a:r>
              <a:t>• 0 Errors</a:t>
            </a:r>
            <a:br/>
            <a:r>
              <a:t>• 31 / 31 Requirements Verified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737360"/>
            <a:ext cx="722376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600">
                <a:solidFill>
                  <a:srgbClr val="1E293B"/>
                </a:solidFill>
              </a:defRPr>
            </a:pPr>
            <a:r>
              <a:t>Automated Verification Breakdown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✔  Flask Application Startup &amp; Blueprint Registration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✔  Database Connection &amp; All 10 Relational SQLAlchemy Models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✔  Authentication for Admin, Manager, and Employee Roles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✔  Role-Based Access Control (RBAC 403 Forbidden Enforcement)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✔  Live Working-Day Calculation (Weekend &amp; Holiday Exclusion)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✔  Balance Limitation Checks &amp; Overlapping Conflict Detection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✔  Manager Approval Workflow with Quota Deduction &amp; Attendance Sync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✔  Manager Rejection Workflow with Mandatory Reason Capture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✔  Leave Cancellation with Automatic Quota Restoration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✔  In-App Notification Center &amp; Read State Updates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✔  Interactive Calendar JSON Endpoints &amp; Feed Validation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✔  Admin CRUD for Staff, Departments, Policies &amp; Holidays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✔  Chart.js Visual Dashboards &amp; RFC-compliant CSV Streaming Export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10B981"/>
                </a:solidFill>
              </a:defRPr>
            </a:pPr>
            <a:r>
              <a:t>LIVE SYSTEM DEMONSTRATION</a:t>
            </a:r>
          </a:p>
          <a:p>
            <a:pPr>
              <a:spcAft>
                <a:spcPts val="1600"/>
              </a:spcAft>
              <a:defRPr sz="3400" b="1">
                <a:solidFill>
                  <a:srgbClr val="FFFFFF"/>
                </a:solidFill>
              </a:defRPr>
            </a:pPr>
            <a:r>
              <a:t>Ready for Viva / Evaluation</a:t>
            </a:r>
          </a:p>
          <a:p>
            <a:pPr>
              <a:spcAft>
                <a:spcPts val="2400"/>
              </a:spcAft>
              <a:defRPr sz="1500">
                <a:solidFill>
                  <a:srgbClr val="CBD5E1"/>
                </a:solidFill>
              </a:defRPr>
            </a:pPr>
            <a:r>
              <a:t>Application URL: http://127.0.0.1:5000</a:t>
            </a:r>
            <a:br/>
            <a:br/>
            <a:r>
              <a:t>• Admin: admin@example.com | Admin@123</a:t>
            </a:r>
            <a:br/>
            <a:r>
              <a:t>• Manager: manager@example.com | Manager@123</a:t>
            </a:r>
            <a:br/>
            <a:r>
              <a:t>• Employee: employee@example.com | Employee@123</a:t>
            </a:r>
            <a:br/>
            <a:br/>
            <a:r>
              <a:t>(Features 1-Click Quick Login for seamless role-switching during demonstration)</a:t>
            </a:r>
          </a:p>
          <a:p>
            <a:pPr>
              <a:defRPr sz="1800" b="1">
                <a:solidFill>
                  <a:srgbClr val="60A5FA"/>
                </a:solidFill>
              </a:defRPr>
            </a:pPr>
            <a:r>
              <a:t>Thank You! • 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